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56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B9F4-4DD6-2443-9014-69CCC45EF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A6582-532F-AFD1-9C85-D09E2CD64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E18A2-8F56-9651-20EA-9CF6ACAA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89CF8-647A-13F8-EACB-971A975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F178-A4D8-5CD9-1145-6DBAB6B2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9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2843-0DFC-29EA-BA47-B2B1C211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2685-EFB2-CA95-FD38-9D18259C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E99DF-807B-E7FB-52FA-C3FFA9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21C05-FE74-95BD-035B-8BD8DDB5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F7847-1BEA-4BB6-3DBB-976B0C97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5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EC57-FBBE-F245-3383-51DB2801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6C336-3C69-A05B-633B-12ADCBF6D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6B905-BE52-1CD6-AA7F-E2BD5238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57761-9C12-6DA8-EDFB-5F688573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8A0DD-44F6-FD0D-B9C5-93DD61DC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88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56E9-0FE1-43F1-3209-0E472BCD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5002-160A-B214-2352-2A3F11EA5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91EB2-4B78-B974-50FC-E0EFE18BF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28076-A648-2840-087D-84B1FF4C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35621-5CFE-EAE3-9023-2799DC562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1AD16-B147-9E12-4828-CFBC4EC2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1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4FBD-BB04-ACBA-95C5-E779E732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7BDD1-854E-E544-F33C-8DC390816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65858-32A1-30A8-424F-2ABB07FE2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2A19E-B741-AF76-7F45-A5B96EB0E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02D67-D041-7ACA-C3E8-6E51A0AF0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E6A1F-2820-CF25-3D1F-4D234843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1CA16-9692-EF01-D5C1-A09EA5F6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D05E2-4F75-1ABE-05AD-BD6164F2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27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381D-234F-7E1B-F5BE-AD93B8CD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76CE2-A964-6FCB-8F19-448EFC44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C14E9-8A86-45C4-C00D-B9C82E28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AE0C7-F867-8C44-57BF-8272D129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87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C287F9-B6FC-6EB6-C004-085AC791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F377E-1693-451B-8CA3-1C079BC0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7D518-2831-73A6-2857-AA08401F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65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E330-F84D-EFE4-D39F-7955D059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9F5AA-2D08-4DD0-8D16-108973A32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D2B26-953B-ED37-D102-D016875A4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99D2-DD8B-B93B-E901-3EC5554F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9AE5A-8AC3-60C0-A936-8E95FE66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057E2-DB14-3A3E-5DF4-DCD891E9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0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76F4-A029-5676-A773-A52485A5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51D412-A06B-CF88-F597-E29C2FEF7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8C98A-B926-787E-8CB5-8F40D6DEA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62554-0723-EB35-F482-79D8D982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7EF02-7380-B76F-A99F-22487283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57110-BF61-1DB7-3F36-AEF5A79B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46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6043-4E9A-1356-0E77-3D0E9DDA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E2787-353B-FA99-9BA0-E67DAFCF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47A94-BC03-A8B0-C1B4-4E6B8235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1BA8-8356-65BF-C9EA-8386F4E7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6B15B-D01C-AB03-CC15-2C16092D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82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DB26B-C6A2-0520-BBB5-EAE9EF6CB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9761C-ECD1-F27E-F013-4DB9D3E87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782D9-2AE5-824D-7345-5DA6C779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68E1A-D5E3-43FC-8B3C-C3A3420A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F64E-6D04-600C-E6AB-765B04E3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6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51E29-0756-E782-8A84-5271313A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D08D-AF1F-0275-474E-4FFBC16C5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2F31-608A-C6EC-2009-74AEE8F53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29DC0-5A99-46E7-B0F8-3255E3AF9B0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9DFA-00A0-D2E3-410E-AAA1743B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482CC-0E86-250A-72CD-F2CAE43F0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52CC8-981B-4C5E-BA05-F21B5E61B2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5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BB28-096C-DD3C-1665-62713C84B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55981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OOP Pillars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483D67-E591-7B14-9EC6-FAEA20170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640134"/>
              </p:ext>
            </p:extLst>
          </p:nvPr>
        </p:nvGraphicFramePr>
        <p:xfrm>
          <a:off x="694944" y="1989614"/>
          <a:ext cx="10658856" cy="1865741"/>
        </p:xfrm>
        <a:graphic>
          <a:graphicData uri="http://schemas.openxmlformats.org/drawingml/2006/table">
            <a:tbl>
              <a:tblPr/>
              <a:tblGrid>
                <a:gridCol w="10658856">
                  <a:extLst>
                    <a:ext uri="{9D8B030D-6E8A-4147-A177-3AD203B41FA5}">
                      <a16:colId xmlns:a16="http://schemas.microsoft.com/office/drawing/2014/main" val="4189366321"/>
                    </a:ext>
                  </a:extLst>
                </a:gridCol>
              </a:tblGrid>
              <a:tr h="920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Title</a:t>
                      </a:r>
                    </a:p>
                    <a:p>
                      <a:pPr algn="ctr">
                        <a:buNone/>
                      </a:pPr>
                      <a:r>
                        <a:rPr lang="en-US" sz="2800" b="1" dirty="0"/>
                        <a:t>The Four Pillars of OOP</a:t>
                      </a:r>
                      <a:r>
                        <a:rPr lang="en-US" sz="2800" dirty="0"/>
                        <a:t> (Object-Oriented Programming)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700438"/>
                  </a:ext>
                </a:extLst>
              </a:tr>
              <a:tr h="920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60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2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9E73-B656-267B-E924-FDC443C7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29807-FCD3-12EF-CD21-B8BA7343E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Inheritance - </a:t>
            </a:r>
            <a:r>
              <a:rPr lang="en-IN" b="1" dirty="0"/>
              <a:t>Code Reusability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FDE8B1-08D4-CF8D-3852-F67F75529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7610"/>
              </p:ext>
            </p:extLst>
          </p:nvPr>
        </p:nvGraphicFramePr>
        <p:xfrm>
          <a:off x="755904" y="2514600"/>
          <a:ext cx="10515600" cy="2231136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28732037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Concept</a:t>
                      </a:r>
                    </a:p>
                    <a:p>
                      <a:pPr>
                        <a:buNone/>
                      </a:pPr>
                      <a:r>
                        <a:rPr lang="en-US" b="0" dirty="0"/>
                        <a:t>Creating a new class (child) that automatically inherits and reuses the attributes and methods from an existing class (parent).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07633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A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Dog</a:t>
                      </a:r>
                      <a:r>
                        <a:rPr lang="en-US" dirty="0"/>
                        <a:t> class and a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Cat</a:t>
                      </a:r>
                      <a:r>
                        <a:rPr lang="en-US" dirty="0"/>
                        <a:t> class both inherit the common method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eat()</a:t>
                      </a:r>
                      <a:r>
                        <a:rPr lang="en-US" dirty="0"/>
                        <a:t> from a general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Animal</a:t>
                      </a:r>
                      <a:r>
                        <a:rPr lang="en-US" dirty="0"/>
                        <a:t> class, so that method only has to be written once.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555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02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91B3-7A50-7ECA-A1DB-99E66050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9F86C-90A3-BBAC-59F7-B8401294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Polymorphism -</a:t>
            </a:r>
            <a:r>
              <a:rPr lang="en-US" b="1" dirty="0"/>
              <a:t> Many Forms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61828-42CD-7CDF-FDAA-4E6408ABE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67055"/>
              </p:ext>
            </p:extLst>
          </p:nvPr>
        </p:nvGraphicFramePr>
        <p:xfrm>
          <a:off x="838200" y="2565686"/>
          <a:ext cx="10515600" cy="2103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04461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Concept</a:t>
                      </a:r>
                    </a:p>
                    <a:p>
                      <a:pPr>
                        <a:buNone/>
                      </a:pPr>
                      <a:r>
                        <a:rPr lang="en-US" b="0" dirty="0"/>
                        <a:t>The ability of a single function or object to take on different forms or behave differently based on the context.</a:t>
                      </a:r>
                    </a:p>
                    <a:p>
                      <a:pPr>
                        <a:buNone/>
                      </a:pPr>
                      <a:endParaRPr lang="en-US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39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A method called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draw()</a:t>
                      </a:r>
                      <a:r>
                        <a:rPr lang="en-US" dirty="0"/>
                        <a:t> will draw a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Circle</a:t>
                      </a:r>
                      <a:r>
                        <a:rPr lang="en-US" dirty="0"/>
                        <a:t> when called on a Circle object, but it will draw a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Square</a:t>
                      </a:r>
                      <a:r>
                        <a:rPr lang="en-US" dirty="0"/>
                        <a:t> when called on a Square object, using the same method name.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932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54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DBBB-38B0-DF61-2113-A01090903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20624" y="1122363"/>
            <a:ext cx="7095744" cy="143795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Encapsulation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21378-70F7-C636-95B4-82072FBE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7552" y="2029270"/>
            <a:ext cx="10762488" cy="2935922"/>
          </a:xfrm>
        </p:spPr>
        <p:txBody>
          <a:bodyPr>
            <a:normAutofit/>
          </a:bodyPr>
          <a:lstStyle/>
          <a:p>
            <a:pPr algn="l" fontAlgn="ctr"/>
            <a:r>
              <a:rPr lang="en-IN" sz="2000" dirty="0"/>
              <a:t>Encapsulation - </a:t>
            </a:r>
            <a:r>
              <a:rPr lang="en-IN" sz="2000" b="1" dirty="0"/>
              <a:t>Data Hiding</a:t>
            </a:r>
          </a:p>
          <a:p>
            <a:pPr algn="l" fontAlgn="ctr"/>
            <a:r>
              <a:rPr lang="en-IN" sz="2000" b="1" dirty="0"/>
              <a:t>Concept</a:t>
            </a:r>
            <a:endParaRPr lang="en-IN" sz="2000" dirty="0"/>
          </a:p>
          <a:p>
            <a:pPr algn="l" fontAlgn="ctr"/>
            <a:r>
              <a:rPr lang="en-US" sz="2000" dirty="0"/>
              <a:t>Bundling data and methods together into a protective unit (an object) while restricting direct outside access to the data.</a:t>
            </a:r>
          </a:p>
          <a:p>
            <a:pPr algn="l" fontAlgn="ctr"/>
            <a:r>
              <a:rPr lang="en-IN" sz="2000" b="1" dirty="0"/>
              <a:t>Example</a:t>
            </a:r>
            <a:endParaRPr lang="en-IN" sz="2000" dirty="0"/>
          </a:p>
          <a:p>
            <a:pPr algn="l" fontAlgn="ctr"/>
            <a:r>
              <a:rPr lang="en-US" sz="2000" dirty="0"/>
              <a:t>A Car object keeps its speed variable </a:t>
            </a:r>
            <a:r>
              <a:rPr lang="en-US" sz="2000" b="1" dirty="0"/>
              <a:t>private</a:t>
            </a:r>
            <a:r>
              <a:rPr lang="en-US" sz="2000" dirty="0"/>
              <a:t>. You must use the public method accelerate() to change the speed, ensuring no invalid values are set.</a:t>
            </a:r>
            <a:endParaRPr lang="en-IN" sz="2000" dirty="0"/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8689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ADEB-5F9C-C7FB-F499-D09D9BB0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AE8FF-1AD5-9914-0E3D-E92A0C648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Abstraction - </a:t>
            </a:r>
            <a:r>
              <a:rPr lang="en-US" b="1" dirty="0"/>
              <a:t>Show Only Essential Details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5707DF-3DC4-D151-1332-833AB8EB3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903851"/>
              </p:ext>
            </p:extLst>
          </p:nvPr>
        </p:nvGraphicFramePr>
        <p:xfrm>
          <a:off x="838200" y="2377440"/>
          <a:ext cx="10515600" cy="2377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512170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Concept</a:t>
                      </a:r>
                    </a:p>
                    <a:p>
                      <a:pPr>
                        <a:buNone/>
                      </a:pPr>
                      <a:r>
                        <a:rPr lang="en-US" b="0" dirty="0"/>
                        <a:t>Showing the user only the necessary features and hiding the complex implementation details of how those features work.</a:t>
                      </a:r>
                    </a:p>
                    <a:p>
                      <a:pPr>
                        <a:buNone/>
                      </a:pPr>
                      <a:endParaRPr lang="en-US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70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When you call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sort(list)</a:t>
                      </a:r>
                      <a:r>
                        <a:rPr lang="en-US" dirty="0"/>
                        <a:t> on a list of numbers, you only know that the list will be sorted. </a:t>
                      </a:r>
                      <a:r>
                        <a:rPr lang="en-US" b="1" dirty="0"/>
                        <a:t>You don't need to know</a:t>
                      </a:r>
                      <a:r>
                        <a:rPr lang="en-US" dirty="0"/>
                        <a:t> if the system used Merge Sort or Quick Sort internally.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847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01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C408-2B9A-E413-36A3-FB4C3039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040" y="2477389"/>
            <a:ext cx="4212682" cy="1325563"/>
          </a:xfrm>
        </p:spPr>
        <p:txBody>
          <a:bodyPr/>
          <a:lstStyle/>
          <a:p>
            <a:r>
              <a:rPr lang="en-IN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61714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264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OOP Pillars</vt:lpstr>
      <vt:lpstr>Inheritance</vt:lpstr>
      <vt:lpstr>Polymorphism</vt:lpstr>
      <vt:lpstr>Encapsulation </vt:lpstr>
      <vt:lpstr>Abstraction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Anbarasu A</dc:creator>
  <cp:lastModifiedBy>Anbarasu A</cp:lastModifiedBy>
  <cp:revision>1</cp:revision>
  <dcterms:created xsi:type="dcterms:W3CDTF">2025-12-11T11:02:20Z</dcterms:created>
  <dcterms:modified xsi:type="dcterms:W3CDTF">2025-12-11T11:45:15Z</dcterms:modified>
</cp:coreProperties>
</file>